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SIC 2026 · BIG DATA MIXTO · CAPSTONE — MÓDULO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PYME Studio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10896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de pymes y su relación con el cierre de negocios en Chile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2926080" cy="0"/>
          </a:xfrm>
          <a:prstGeom prst="line">
            <a:avLst/>
          </a:prstGeom>
          <a:noFill/>
          <a:ln w="31750">
            <a:solidFill>
              <a:srgbClr val="C26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25196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Equipo: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Ignacio Hidalgo · Sergio Ariel Rebolledo López · Avelyn García
</a:t>
            </a:r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datos:  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de Impuestos Internos (SII), 2005–2024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1512" y="4480560"/>
            <a:ext cx="1371600" cy="1371600"/>
          </a:xfrm>
          <a:prstGeom prst="ellipse">
            <a:avLst/>
          </a:prstGeom>
          <a:solidFill>
            <a:srgbClr val="153A54"/>
          </a:solidFill>
          <a:ln/>
        </p:spPr>
      </p:sp>
      <p:pic>
        <p:nvPicPr>
          <p:cNvPr id="8" name="Image 0" descr="C:\Users\srebo\Desktop\big data\capstone project big data\pyme-studio\docs\presentacion\build\icon_proble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696" y="4809744"/>
            <a:ext cx="713232" cy="7132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18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RESUMEN EJECUTIVO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solo vas a leer una diapositiva, que sea esta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109960" cy="137160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745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concentración de negocios similares se relaciona con más cierres?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 del rubro. 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9E8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comercio y comida, sí — con fuerza estadística. En agricultura y salud, es al revés.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5204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126.566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" y="420624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analizadas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37560" y="333756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2152" y="35204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0,575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02152" y="420624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(p&lt;0,0001)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333756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91072" y="35204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0,359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91072" y="420624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Alojamiento/Comidas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15400" y="333756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79992" y="35204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−0,268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079992" y="420624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 (al revés)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512064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Metodología: correlación de Spearman entre nº de empresas activas y tasa de cierre, comparando comunas dentro de cada rubro por separado (no mezclados) — 2005-2024, datos oficiales del SII, validados de forma cruzada.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C2632A"/>
          </a:solidFill>
          <a:ln/>
        </p:spPr>
      </p:sp>
      <p:pic>
        <p:nvPicPr>
          <p:cNvPr id="3" name="Image 0" descr="C:\Users\srebo\Desktop\big data\capstone project big data\pyme-studio\docs\presentacion\build\icon_proble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abren negocios similares en la misma calle. ¿Ayuda o perjudica?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7" name="Shape 4"/>
          <p:cNvSpPr/>
          <p:nvPr/>
        </p:nvSpPr>
        <p:spPr>
          <a:xfrm>
            <a:off x="809244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581912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9" name="Shape 6"/>
          <p:cNvSpPr/>
          <p:nvPr/>
        </p:nvSpPr>
        <p:spPr>
          <a:xfrm>
            <a:off x="1842516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1874520"/>
            <a:ext cx="868680" cy="86868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3648456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9060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4681728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5" name="Shape 12"/>
          <p:cNvSpPr/>
          <p:nvPr/>
        </p:nvSpPr>
        <p:spPr>
          <a:xfrm>
            <a:off x="4942332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5715000" y="1874520"/>
            <a:ext cx="868680" cy="86868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7" name="Shape 14"/>
          <p:cNvSpPr/>
          <p:nvPr/>
        </p:nvSpPr>
        <p:spPr>
          <a:xfrm>
            <a:off x="5975604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48272" y="1874520"/>
            <a:ext cx="868680" cy="86868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9" name="Shape 16"/>
          <p:cNvSpPr/>
          <p:nvPr/>
        </p:nvSpPr>
        <p:spPr>
          <a:xfrm>
            <a:off x="7008876" y="2265426"/>
            <a:ext cx="347472" cy="4777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28529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Observación real: locales similares (abarrotes, comida) agrupados en una misma cuadra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3246120"/>
            <a:ext cx="694944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  <a:effectLst>
            <a:outerShdw sx="100000" sy="100000" kx="0" ky="0" algn="bl" rotWithShape="0" blurRad="127000" dist="38100" dir="5400000">
              <a:srgbClr val="9FB0B8">
                <a:alpha val="3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68680" y="3383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3600" dirty="0"/>
          </a:p>
        </p:txBody>
      </p:sp>
      <p:sp>
        <p:nvSpPr>
          <p:cNvPr id="23" name="Text 20"/>
          <p:cNvSpPr/>
          <p:nvPr/>
        </p:nvSpPr>
        <p:spPr>
          <a:xfrm>
            <a:off x="1051560" y="370332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emprendedores e inversionistas necesitan decidir si conviene abrir un negocio de un rubro específico en una comuna determinada, porque una mala decisión de ubicación puede llevar al cierre temprano del negocio, y hoy no pueden hacerlo con evidencia porque no existe una fuente accesible que muestre la concentración y la tasa histórica de cierre de negocios similares por zona.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0" y="3246120"/>
            <a:ext cx="3886200" cy="1371600"/>
          </a:xfrm>
          <a:prstGeom prst="rect">
            <a:avLst/>
          </a:prstGeom>
          <a:solidFill>
            <a:srgbClr val="DCEAF4"/>
          </a:solidFill>
          <a:ln/>
        </p:spPr>
      </p:sp>
      <p:sp>
        <p:nvSpPr>
          <p:cNvPr id="25" name="Text 22"/>
          <p:cNvSpPr/>
          <p:nvPr/>
        </p:nvSpPr>
        <p:spPr>
          <a:xfrm>
            <a:off x="8001000" y="33832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5C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USUARIO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001000" y="3639312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Emprendedores e inversionistas, municipios e investigadores.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772400" y="4754880"/>
            <a:ext cx="3886200" cy="1371600"/>
          </a:xfrm>
          <a:prstGeom prst="rect">
            <a:avLst/>
          </a:prstGeom>
          <a:solidFill>
            <a:srgbClr val="FBE7D3"/>
          </a:solidFill>
          <a:ln/>
        </p:spPr>
      </p:sp>
      <p:sp>
        <p:nvSpPr>
          <p:cNvPr id="28" name="Text 25"/>
          <p:cNvSpPr/>
          <p:nvPr/>
        </p:nvSpPr>
        <p:spPr>
          <a:xfrm>
            <a:off x="8001000" y="489204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EVIDENCIA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001000" y="5148072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veces es plano regulador, otras son decisiones de inversión sin datos que las respalden.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PREGUNTA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¿Cuál es la concentración de pymes por rubro y comuna, y cómo se relaciona con su tasa histórica de término de giro (cierre)?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971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5C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DENTRO DEL ALCANCE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Chile completo, todas las comunas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2005–2024 (histórico, 20 años)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a nivel comuna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21 rubros económicos (CIIU Rev.4)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estadística documentada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274320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971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FUERA DEL ALCANCE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37960" y="34290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000"/>
              </a:spcAft>
              <a:buSzPct val="100000"/>
              <a:buChar char="✗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calle o dirección exacta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✗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en tiempo real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✗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Causalidad (solo correlación)</a:t>
            </a:r>
            <a:endParaRPr lang="en-US" sz="1400" dirty="0"/>
          </a:p>
          <a:p>
            <a:pPr marL="254000" indent="-254000">
              <a:spcAft>
                <a:spcPts val="1000"/>
              </a:spcAft>
              <a:buSzPct val="100000"/>
              <a:buChar char="✗"/>
            </a:pPr>
            <a:r>
              <a:rPr lang="en-US" sz="140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externos al SII (arriendo, tráfico, etc.)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CÓMO SE LLEGÓ HASTA ACÁ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hitos, del tema vago al hallazgo con evidencia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05840" y="2697480"/>
            <a:ext cx="10149840" cy="0"/>
          </a:xfrm>
          <a:prstGeom prst="line">
            <a:avLst/>
          </a:prstGeom>
          <a:noFill/>
          <a:ln w="25400">
            <a:solidFill>
              <a:srgbClr val="D2DE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Empatizar y definir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7160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Thinking: usuario, evidencia, problema en una frase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15768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10" name="Text 8"/>
          <p:cNvSpPr/>
          <p:nvPr/>
        </p:nvSpPr>
        <p:spPr>
          <a:xfrm>
            <a:off x="2715768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167128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Factibilidad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167128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F1-F4: ¿hay datos, técnica, tiempo y alcance realistas?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45736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14" name="Text 12"/>
          <p:cNvSpPr/>
          <p:nvPr/>
        </p:nvSpPr>
        <p:spPr>
          <a:xfrm>
            <a:off x="4745736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197096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197096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fuentes del SII unidas en un dataset único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75704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18" name="Text 16"/>
          <p:cNvSpPr/>
          <p:nvPr/>
        </p:nvSpPr>
        <p:spPr>
          <a:xfrm>
            <a:off x="6775704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27064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227064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global y por rubro, con significancia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805672" y="2377440"/>
            <a:ext cx="640080" cy="640080"/>
          </a:xfrm>
          <a:prstGeom prst="ellipse">
            <a:avLst/>
          </a:prstGeom>
          <a:solidFill>
            <a:srgbClr val="1F5C8B"/>
          </a:solidFill>
          <a:ln/>
        </p:spPr>
      </p:sp>
      <p:sp>
        <p:nvSpPr>
          <p:cNvPr id="22" name="Text 20"/>
          <p:cNvSpPr/>
          <p:nvPr/>
        </p:nvSpPr>
        <p:spPr>
          <a:xfrm>
            <a:off x="8805672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257032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57032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interactivo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835640" y="2377440"/>
            <a:ext cx="640080" cy="640080"/>
          </a:xfrm>
          <a:prstGeom prst="ellipse">
            <a:avLst/>
          </a:prstGeom>
          <a:solidFill>
            <a:srgbClr val="C2632A"/>
          </a:solidFill>
          <a:ln/>
        </p:spPr>
      </p:sp>
      <p:sp>
        <p:nvSpPr>
          <p:cNvPr id="26" name="Text 24"/>
          <p:cNvSpPr/>
          <p:nvPr/>
        </p:nvSpPr>
        <p:spPr>
          <a:xfrm>
            <a:off x="1083564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287000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287000" y="36118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síntesis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120640"/>
            <a:ext cx="11109960" cy="822960"/>
          </a:xfrm>
          <a:prstGeom prst="rect">
            <a:avLst/>
          </a:prstGeom>
          <a:solidFill>
            <a:srgbClr val="DCEAF4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5257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hito quedó documentado con evidencia verificable — no solo “se hizo”, sino el archivo, el número o el gráfico que lo demuestra.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ARQUITECTURA V0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dato crudo al hallazgo, en 6 etapas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68680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5" name="Text 3"/>
          <p:cNvSpPr/>
          <p:nvPr/>
        </p:nvSpPr>
        <p:spPr>
          <a:xfrm>
            <a:off x="97840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78408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78408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archivos SII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41448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24328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0" name="Text 8"/>
          <p:cNvSpPr/>
          <p:nvPr/>
        </p:nvSpPr>
        <p:spPr>
          <a:xfrm>
            <a:off x="2734056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34056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Ingesta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34056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 directa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97096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379976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15" name="Text 13"/>
          <p:cNvSpPr/>
          <p:nvPr/>
        </p:nvSpPr>
        <p:spPr>
          <a:xfrm>
            <a:off x="448970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89704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Almacenamiento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9704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DataFrames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52744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135624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20" name="Text 18"/>
          <p:cNvSpPr/>
          <p:nvPr/>
        </p:nvSpPr>
        <p:spPr>
          <a:xfrm>
            <a:off x="624535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5352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Procesamiento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245352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Limpieza, join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08392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891272" y="2743200"/>
            <a:ext cx="1554480" cy="210312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25" name="Text 23"/>
          <p:cNvSpPr/>
          <p:nvPr/>
        </p:nvSpPr>
        <p:spPr>
          <a:xfrm>
            <a:off x="8001000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01000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001000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464040" y="356616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646920" y="2743200"/>
            <a:ext cx="1554480" cy="21031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30" name="Text 28"/>
          <p:cNvSpPr/>
          <p:nvPr/>
        </p:nvSpPr>
        <p:spPr>
          <a:xfrm>
            <a:off x="975664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756648" y="329184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756648" y="3794760"/>
            <a:ext cx="13350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68680" y="5120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bloque asumió una tecnología concreta antes de saber qué datos había disponibles.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F5C8B"/>
          </a:solidFill>
          <a:ln/>
        </p:spPr>
      </p:sp>
      <p:pic>
        <p:nvPicPr>
          <p:cNvPr id="3" name="Image 0" descr="C:\Users\srebo\Desktop\big data\capstone project big data\pyme-studio\docs\presentacion\build\icon_da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FACTIBILIDAD DE DATOS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fuentes del SII, validadas y cruzadas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949440" cy="173736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14630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PUB_actividades_inscritas.txt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Aperturas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PUB_TG.txt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Cierres (término de giro)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PUB_COMU_RUBR.xlsb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Empresas activas (concentración)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79476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DCF0E4"/>
          </a:solidFill>
          <a:ln/>
        </p:spPr>
      </p:sp>
      <p:sp>
        <p:nvSpPr>
          <p:cNvPr id="8" name="Text 4"/>
          <p:cNvSpPr/>
          <p:nvPr/>
        </p:nvSpPr>
        <p:spPr>
          <a:xfrm>
            <a:off x="548640" y="38587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548640" y="4187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36B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 · Datos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2331720" y="379476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DCF0E4"/>
          </a:solidFill>
          <a:ln/>
        </p:spPr>
      </p:sp>
      <p:sp>
        <p:nvSpPr>
          <p:cNvPr id="11" name="Text 7"/>
          <p:cNvSpPr/>
          <p:nvPr/>
        </p:nvSpPr>
        <p:spPr>
          <a:xfrm>
            <a:off x="2331720" y="38587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2331720" y="4187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36B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F2 · Técnica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114800" y="379476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DCF0E4"/>
          </a:solidFill>
          <a:ln/>
        </p:spPr>
      </p:sp>
      <p:sp>
        <p:nvSpPr>
          <p:cNvPr id="14" name="Text 10"/>
          <p:cNvSpPr/>
          <p:nvPr/>
        </p:nvSpPr>
        <p:spPr>
          <a:xfrm>
            <a:off x="4114800" y="38587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114800" y="4187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36B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F3 · Temporal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897880" y="379476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DCF0E4"/>
          </a:solidFill>
          <a:ln/>
        </p:spPr>
      </p:sp>
      <p:sp>
        <p:nvSpPr>
          <p:cNvPr id="17" name="Text 13"/>
          <p:cNvSpPr/>
          <p:nvPr/>
        </p:nvSpPr>
        <p:spPr>
          <a:xfrm>
            <a:off x="5897880" y="38587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5897880" y="418795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36B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F4 · Alcance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818120" y="1783080"/>
            <a:ext cx="3794760" cy="374904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20" name="Text 16"/>
          <p:cNvSpPr/>
          <p:nvPr/>
        </p:nvSpPr>
        <p:spPr>
          <a:xfrm>
            <a:off x="8092440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VALIDACIÓN CRUZADA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8092440" y="23774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0,13%</a:t>
            </a:r>
            <a:endParaRPr lang="en-US" sz="4600" dirty="0"/>
          </a:p>
        </p:txBody>
      </p:sp>
      <p:sp>
        <p:nvSpPr>
          <p:cNvPr id="22" name="Text 18"/>
          <p:cNvSpPr/>
          <p:nvPr/>
        </p:nvSpPr>
        <p:spPr>
          <a:xfrm>
            <a:off x="8092440" y="33832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promedio entre dos fuentes independientes del SII, en el período que comparten (2005–2015)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92440" y="4434840"/>
            <a:ext cx="3246120" cy="0"/>
          </a:xfrm>
          <a:prstGeom prst="line">
            <a:avLst/>
          </a:prstGeom>
          <a:noFill/>
          <a:ln w="12700">
            <a:solidFill>
              <a:srgbClr val="26506E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092440" y="4572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de las 3.619 combinaciones comuna+año coinciden de forma exacta.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F5C8B"/>
          </a:solidFill>
          <a:ln/>
        </p:spPr>
      </p:sp>
      <p:pic>
        <p:nvPicPr>
          <p:cNvPr id="3" name="Image 0" descr="C:\Users\srebo\Desktop\big data\capstone project big data\pyme-studio\docs\presentacion\build\icon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 DE PROCESAMIENTO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3 archivos crudos a un dataset único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14173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084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Filas vacías descartadas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25146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~49.478 filas 100% en blanco en el archivo de cierres — no eran datos reales, eran relleno del export del SII.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806440" y="192024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806440" y="1920240"/>
            <a:ext cx="73152" cy="14173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2" name="Text 9"/>
          <p:cNvSpPr/>
          <p:nvPr/>
        </p:nvSpPr>
        <p:spPr>
          <a:xfrm>
            <a:off x="6080760" y="2084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de formato numérico corregido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080760" y="25146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“1.400” en el SII es mil cuatrocientos (separador de miles chileno), no uno coma cuatro.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56616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48640" y="3566160"/>
            <a:ext cx="73152" cy="14173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Rubros normalizados entre 3 formatos distintos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22960" y="41605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- Agricultura, ganadería...” y “AGRICULTURA, GANADERIA...” se unifican en una sola clave.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806440" y="356616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EE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806440" y="3566160"/>
            <a:ext cx="73152" cy="14173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20" name="Text 17"/>
          <p:cNvSpPr/>
          <p:nvPr/>
        </p:nvSpPr>
        <p:spPr>
          <a:xfrm>
            <a:off x="608076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fuentes unidas por año + comuna + rubro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080760" y="41605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126.566 filas finales, sin aproximaciones — las tres fuentes ya comparten el mismo período completo.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HALLAZGO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Mezclando todos los rubros, no hay señal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17520" cy="45720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5" name="Shape 3"/>
          <p:cNvSpPr/>
          <p:nvPr/>
        </p:nvSpPr>
        <p:spPr>
          <a:xfrm>
            <a:off x="3566160" y="1737360"/>
            <a:ext cx="3017520" cy="457200"/>
          </a:xfrm>
          <a:prstGeom prst="rect">
            <a:avLst/>
          </a:prstGeom>
          <a:solidFill>
            <a:srgbClr val="1F5C8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240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383280" y="22402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240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83864" y="1655064"/>
            <a:ext cx="164592" cy="786384"/>
          </a:xfrm>
          <a:prstGeom prst="ellipse">
            <a:avLst/>
          </a:prstGeom>
          <a:ln/>
        </p:spPr>
      </p:sp>
      <p:sp>
        <p:nvSpPr>
          <p:cNvPr id="10" name="Shape 8"/>
          <p:cNvSpPr/>
          <p:nvPr/>
        </p:nvSpPr>
        <p:spPr>
          <a:xfrm rot="10800000">
            <a:off x="3456432" y="1481328"/>
            <a:ext cx="219456" cy="201168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3774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global ≈ 0 — justo en el centro de la escala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≈ 0</a:t>
            </a:r>
            <a:endParaRPr lang="en-US" sz="10000" dirty="0"/>
          </a:p>
        </p:txBody>
      </p:sp>
      <p:sp>
        <p:nvSpPr>
          <p:cNvPr id="13" name="Text 11"/>
          <p:cNvSpPr/>
          <p:nvPr/>
        </p:nvSpPr>
        <p:spPr>
          <a:xfrm>
            <a:off x="685800" y="4160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8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Pearson r = −0,028 (p=0,077)  ·  Spearman r = +0,029 (p=0,066)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461772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8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es significativo. Si el análisis se hubiera quedado aquí, la conclusión habría sido: la hipótesis no se sostiene.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818120" y="1737360"/>
            <a:ext cx="3794760" cy="3931920"/>
          </a:xfrm>
          <a:prstGeom prst="rect">
            <a:avLst/>
          </a:prstGeom>
          <a:solidFill>
            <a:srgbClr val="153A54"/>
          </a:solidFill>
          <a:ln w="12700">
            <a:solidFill>
              <a:srgbClr val="2650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19202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¿POR QUÉ SE CANCELA?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92440" y="2423160"/>
            <a:ext cx="1371600" cy="502920"/>
          </a:xfrm>
          <a:prstGeom prst="chevron">
            <a:avLst/>
          </a:prstGeom>
          <a:solidFill>
            <a:srgbClr val="1F5C8B"/>
          </a:solidFill>
          <a:ln/>
        </p:spPr>
      </p:sp>
      <p:sp>
        <p:nvSpPr>
          <p:cNvPr id="18" name="Text 16"/>
          <p:cNvSpPr/>
          <p:nvPr/>
        </p:nvSpPr>
        <p:spPr>
          <a:xfrm>
            <a:off x="8092440" y="29992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Comercio +0,58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9966960" y="2423160"/>
            <a:ext cx="1371600" cy="502920"/>
          </a:xfrm>
          <a:prstGeom prst="chevron">
            <a:avLst/>
          </a:prstGeom>
          <a:solidFill>
            <a:srgbClr val="C2632A"/>
          </a:solidFill>
          <a:ln/>
        </p:spPr>
      </p:sp>
      <p:sp>
        <p:nvSpPr>
          <p:cNvPr id="20" name="Text 18"/>
          <p:cNvSpPr/>
          <p:nvPr/>
        </p:nvSpPr>
        <p:spPr>
          <a:xfrm>
            <a:off x="9784080" y="29992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Financiero −0,14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46720" y="3703320"/>
            <a:ext cx="3337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promediar sectores con dinámicas opuestas, se cancelan entre sí. Había que mirar la correlación dentro de cada rubro por separado.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HALLAZGO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rubro, la relación sí aparece — y con fuerza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de Spearman entre concentración y tasa de cierre, comparando comunas dentro de cada rubro.</a:t>
            </a:r>
            <a:endParaRPr lang="en-US" sz="1250" dirty="0"/>
          </a:p>
        </p:txBody>
      </p:sp>
      <p:pic>
        <p:nvPicPr>
          <p:cNvPr id="5" name="Image 0" descr="C:\Users\srebo\Desktop\big data\capstone project big data\pyme-studio\outputs\figures\hito4_barras_correlacion_por_rub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1828800"/>
            <a:ext cx="8412480" cy="4663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HALLAZGO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Justo donde se esperaba: comercio y comida</a:t>
            </a:r>
            <a:endParaRPr lang="en-US" sz="2400" dirty="0"/>
          </a:p>
        </p:txBody>
      </p:sp>
      <p:pic>
        <p:nvPicPr>
          <p:cNvPr id="4" name="Image 0" descr="C:\Users\srebo\Desktop\big data\capstone project big data\pyme-studio\outputs\figures\hito4_dispersion_por_rub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6949440" cy="5074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80960" y="1508760"/>
            <a:ext cx="4023360" cy="2331720"/>
          </a:xfrm>
          <a:prstGeom prst="rect">
            <a:avLst/>
          </a:prstGeom>
          <a:solidFill>
            <a:srgbClr val="DCEAF4"/>
          </a:solidFill>
          <a:ln/>
        </p:spPr>
      </p:sp>
      <p:sp>
        <p:nvSpPr>
          <p:cNvPr id="6" name="Text 3"/>
          <p:cNvSpPr/>
          <p:nvPr/>
        </p:nvSpPr>
        <p:spPr>
          <a:xfrm>
            <a:off x="7955280" y="1691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5C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COMERCIO AL POR MAYOR/MENOR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955280" y="20116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0,575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955280" y="2697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342 comunas · p &lt; 0,0001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95528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rubro del ejemplo original: abarrotes y tiendas.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80960" y="4023360"/>
            <a:ext cx="4023360" cy="2331720"/>
          </a:xfrm>
          <a:prstGeom prst="rect">
            <a:avLst/>
          </a:prstGeom>
          <a:solidFill>
            <a:srgbClr val="FBE7D3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0" y="4206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ALOJAMIENTO Y SERVICIO DE COMIDAS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955280" y="45262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0,359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7955280" y="5212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344 comunas · p &lt; 0,0001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955280" y="5532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Sushi, pizzerías, restaurantes — el otro rubro del ejemplo original.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HALLAZGO INESPERADO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salto de cierres en 2016 no fue una crisis</a:t>
            </a:r>
            <a:endParaRPr lang="en-US" sz="2400" dirty="0"/>
          </a:p>
        </p:txBody>
      </p:sp>
      <p:pic>
        <p:nvPicPr>
          <p:cNvPr id="4" name="Image 0" descr="C:\Users\srebo\Desktop\big data\capstone project big data\pyme-studio\outputs\figures\hito4_serie_tiempo_nac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31520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83880" y="1463040"/>
            <a:ext cx="3520440" cy="393192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6" name="Text 3"/>
          <p:cNvSpPr/>
          <p:nvPr/>
        </p:nvSpPr>
        <p:spPr>
          <a:xfrm>
            <a:off x="8458200" y="16916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35.931 → 214.705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458200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cierres entre 2015 y 2016 (6,0×)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458200" y="2651760"/>
            <a:ext cx="2971800" cy="0"/>
          </a:xfrm>
          <a:prstGeom prst="line">
            <a:avLst/>
          </a:prstGeom>
          <a:noFill/>
          <a:ln w="12700">
            <a:solidFill>
              <a:srgbClr val="26506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58200" y="283464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A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real, verificada: la Ley 20.899 (2016) le dio al SII la facultad de declarar de oficio el término de giro de contribuyentes inactivos que nunca habían avisado formalmente.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58200" y="4434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“barrido administrativo” de empresas ya inactivas — no una ola de quiebras ese año.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PRODUCTO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dashboard interactivo, no solo un reporte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dashboard/pyme_studio_dashboard.html — archivo único, sin dependencias externas, funciona sin internet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040880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74520"/>
            <a:ext cx="7040880" cy="365760"/>
          </a:xfrm>
          <a:prstGeom prst="rect">
            <a:avLst/>
          </a:prstGeom>
          <a:solidFill>
            <a:srgbClr val="E7ECEF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2002536"/>
            <a:ext cx="109728" cy="10972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002536"/>
            <a:ext cx="109728" cy="109728"/>
          </a:xfrm>
          <a:prstGeom prst="ellipse">
            <a:avLst/>
          </a:prstGeom>
          <a:solidFill>
            <a:srgbClr val="B8862B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" y="2002536"/>
            <a:ext cx="109728" cy="10972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0" name="Shape 8"/>
          <p:cNvSpPr/>
          <p:nvPr/>
        </p:nvSpPr>
        <p:spPr>
          <a:xfrm>
            <a:off x="1463040" y="1947672"/>
            <a:ext cx="57607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194767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dashboard/pyme_studio_dashboard.html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77240" y="2377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PYME Studio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2743200"/>
            <a:ext cx="1554480" cy="548640"/>
          </a:xfrm>
          <a:prstGeom prst="rect">
            <a:avLst/>
          </a:prstGeom>
          <a:solidFill>
            <a:srgbClr val="F6F8FA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5.263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468880" y="2743200"/>
            <a:ext cx="1554480" cy="548640"/>
          </a:xfrm>
          <a:prstGeom prst="rect">
            <a:avLst/>
          </a:prstGeom>
          <a:solidFill>
            <a:srgbClr val="F6F8FA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269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160520" y="2743200"/>
            <a:ext cx="1554480" cy="548640"/>
          </a:xfrm>
          <a:prstGeom prst="rect">
            <a:avLst/>
          </a:prstGeom>
          <a:solidFill>
            <a:srgbClr val="F6F8FA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6052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C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r=0,58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52160" y="2743200"/>
            <a:ext cx="1554480" cy="548640"/>
          </a:xfrm>
          <a:prstGeom prst="rect">
            <a:avLst/>
          </a:prstGeom>
          <a:solidFill>
            <a:srgbClr val="F6F8FA"/>
          </a:solidFill>
          <a:ln w="6350">
            <a:solidFill>
              <a:srgbClr val="D2DE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63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6,0×</a:t>
            </a:r>
            <a:endParaRPr lang="en-US" sz="1500" dirty="0"/>
          </a:p>
        </p:txBody>
      </p:sp>
      <p:pic>
        <p:nvPicPr>
          <p:cNvPr id="21" name="Image 0" descr="C:\Users\srebo\Desktop\big data\capstone project big data\pyme-studio\outputs\figures\hito4_barras_correlacion_por_rub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474720"/>
            <a:ext cx="6400800" cy="274320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863840" y="1874520"/>
            <a:ext cx="3794760" cy="1051560"/>
          </a:xfrm>
          <a:prstGeom prst="rect">
            <a:avLst/>
          </a:prstGeom>
          <a:solidFill>
            <a:srgbClr val="153A54"/>
          </a:solidFill>
          <a:ln/>
        </p:spPr>
      </p:sp>
      <p:sp>
        <p:nvSpPr>
          <p:cNvPr id="23" name="Text 20"/>
          <p:cNvSpPr/>
          <p:nvPr/>
        </p:nvSpPr>
        <p:spPr>
          <a:xfrm>
            <a:off x="8046720" y="198424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C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primero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046720" y="23317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Enunciado y contexto antes que cualquier gráfico.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863840" y="3017520"/>
            <a:ext cx="3794760" cy="1051560"/>
          </a:xfrm>
          <a:prstGeom prst="rect">
            <a:avLst/>
          </a:prstGeom>
          <a:solidFill>
            <a:srgbClr val="153A54"/>
          </a:solidFill>
          <a:ln/>
        </p:spPr>
      </p:sp>
      <p:sp>
        <p:nvSpPr>
          <p:cNvPr id="26" name="Text 23"/>
          <p:cNvSpPr/>
          <p:nvPr/>
        </p:nvSpPr>
        <p:spPr>
          <a:xfrm>
            <a:off x="8046720" y="312724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C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Ranking interactivo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046720" y="34747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rubros comparables con un clic; hover muestra el detalle.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863840" y="4160520"/>
            <a:ext cx="3794760" cy="1051560"/>
          </a:xfrm>
          <a:prstGeom prst="rect">
            <a:avLst/>
          </a:prstGeom>
          <a:solidFill>
            <a:srgbClr val="153A54"/>
          </a:solidFill>
          <a:ln/>
        </p:spPr>
      </p:sp>
      <p:sp>
        <p:nvSpPr>
          <p:cNvPr id="29" name="Text 26"/>
          <p:cNvSpPr/>
          <p:nvPr/>
        </p:nvSpPr>
        <p:spPr>
          <a:xfrm>
            <a:off x="8046720" y="427024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C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Explorador por rubro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8046720" y="46177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Dispersión y rankings se recalculan al instante.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863840" y="5303520"/>
            <a:ext cx="3794760" cy="1051560"/>
          </a:xfrm>
          <a:prstGeom prst="rect">
            <a:avLst/>
          </a:prstGeom>
          <a:solidFill>
            <a:srgbClr val="153A54"/>
          </a:solidFill>
          <a:ln/>
        </p:spPr>
      </p:sp>
      <p:sp>
        <p:nvSpPr>
          <p:cNvPr id="32" name="Text 29"/>
          <p:cNvSpPr/>
          <p:nvPr/>
        </p:nvSpPr>
        <p:spPr>
          <a:xfrm>
            <a:off x="8046720" y="541324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C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Accesible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8046720" y="57607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Lectores de pantalla, teclado, modo claro/oscuro.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equipo puede afirmar con evidencia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C2632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65506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hipótesis de Ignacio se confirma — pero solo donde importa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039112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comercio minorista y alojamiento/comidas, la concentración de empresas se asocia con mayor cierre — un resultado que se mantiene al excluir 2016 y al corregir por comparaciones múltiples (n grande, p &lt; 0,0001), aunque no fue igual de fuerte todos los años (detalle: diapositivas 15-16).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862072"/>
            <a:ext cx="457200" cy="457200"/>
          </a:xfrm>
          <a:prstGeom prst="ellipse">
            <a:avLst/>
          </a:prstGeom>
          <a:solidFill>
            <a:srgbClr val="C2632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825496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una regla universal de negocios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3209544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agricultura y salud pasa lo contrario: concentrarse ahí parece ser saludable — dinámicas de mercado distintas exigen lecturas distintas.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032504"/>
            <a:ext cx="457200" cy="457200"/>
          </a:xfrm>
          <a:prstGeom prst="ellipse">
            <a:avLst/>
          </a:prstGeom>
          <a:solidFill>
            <a:srgbClr val="C2632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99592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detalle sobrevive a la validación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379976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salto de cierres en 2016 tenía una explicación legal real, no era ruido — y cambia cómo se debe leer cualquier análisis año a año.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7315200" cy="1051560"/>
          </a:xfrm>
          <a:prstGeom prst="rect">
            <a:avLst/>
          </a:prstGeom>
          <a:solidFill>
            <a:srgbClr val="DCEAF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3766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C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UN INVERSIONISTA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562356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abrir un local en comercio o comida, revisar la tasa de cierre histórica de esa comuna específica — no asumir que “más locales cerca” siempre es mala señal en cualquier rubro.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92440" y="5257800"/>
            <a:ext cx="3566160" cy="1051560"/>
          </a:xfrm>
          <a:prstGeom prst="rect">
            <a:avLst/>
          </a:prstGeom>
          <a:solidFill>
            <a:srgbClr val="FBE7D3"/>
          </a:solidFill>
          <a:ln/>
        </p:spPr>
      </p:sp>
      <p:sp>
        <p:nvSpPr>
          <p:cNvPr id="20" name="Text 18"/>
          <p:cNvSpPr/>
          <p:nvPr/>
        </p:nvSpPr>
        <p:spPr>
          <a:xfrm>
            <a:off x="8321040" y="53766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LÍMITE HONESTO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321040" y="5623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correlación, no causalidad — no mide arriendo, tráfico peatonal ni calidad del negocio.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ROBUSTEZ METODOLÓGICA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¿Esto se sostiene si lo revisamos más a fondo?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91440" cy="749808"/>
          </a:xfrm>
          <a:prstGeom prst="rect">
            <a:avLst/>
          </a:prstGeom>
          <a:solidFill>
            <a:srgbClr val="2F8F5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190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 realmente un universo de pymes?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68680" y="20482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— verificado con la clasificación oficial del SII (Ley 20.416, por ventas). Entre 91,6% y 100% de las empresas son pyme según el rubro; 98,9%+ en los 2 rubros centrales.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91440" cy="749808"/>
          </a:xfrm>
          <a:prstGeom prst="rect">
            <a:avLst/>
          </a:prstGeom>
          <a:solidFill>
            <a:srgbClr val="2F8F5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334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¿Depende del salto de cierres de 2016?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68680" y="29626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Excluyendo 2016: Comercio pasa de r=0,575 a r=0,521 y Alojamiento/Comidas de r=0,359 a r=0,343 — ambos siguen significativos.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91440" cy="749808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5478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¿Favorece a las comunas grandes por diseño?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68680" y="38770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parte. Con concentración relativa (% del rubro en la comuna, no conteo absoluto), Comercio se sostiene (r=0,322) — pero Alojamiento/Comidas se invierte (r=−0,535). Se documentan ambas métricas, no se descarta el hallazgo.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91440" cy="7498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4622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NO dice este análisis?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68680" y="479145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demuestra causalidad, no predice el cierre de una empresa individual, y un término de giro no equivale a quiebra — puede ser administrativo o voluntario. No es asesoría financiera.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548640" y="5468112"/>
            <a:ext cx="11109960" cy="82296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550408"/>
            <a:ext cx="1065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FC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ENTREGABLES OFICIALES DE ESTA ENTREGA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5797296"/>
            <a:ext cx="10652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dashboard/pyme_studio_dashboard.html (producto) · docs/presentacion/PYME_Studio_Presentacion.pptx (esta presentación) — versiones anteriores se conservan solo como respaldo local, fuera de este repositorio. Los 6 hitos del Módulo 1 están completos. Detalle: docs/metodologia/metodologia.md.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ROBUSTEZ METODOLÓGICA (CONTINUACIÓN)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¿Se sostiene probando 19 rubros a la vez, y en el tiempo?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91440" cy="1188720"/>
          </a:xfrm>
          <a:prstGeom prst="rect">
            <a:avLst/>
          </a:prstGeom>
          <a:solidFill>
            <a:srgbClr val="2F8F5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5623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¿Sobreviven las 19 correlaciones a probarse todas a la vez?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68680" y="225856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Sí, en su mayoría. De 12 rubros significativos sin ajustar, los 12 se mantienen con la corrección FDR (Benjamini-Hochberg) y 11 con Bonferroni, más estricta. Comercio, Alojamiento/Comidas y Agricultura — el hallazgo central — se mantienen significativos bajo ambos criterios.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3291840"/>
            <a:ext cx="91440" cy="1188720"/>
          </a:xfrm>
          <a:prstGeom prst="rect">
            <a:avLst/>
          </a:prstGeom>
          <a:solidFill>
            <a:srgbClr val="C2632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27355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¿La relación es igual de fuerte en todo el período 2005-2024?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67588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6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Comercio y Alojamiento/Comidas se fortalecen con el tiempo: débiles o no significativos en 2005-2010, consistentemente más fuertes hacia 2020-2024 — nunca cambian de signo. Agricultura sí cambia de signo: positivo en 2005-2010, negativo desde 2016 en adelante.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4846320"/>
            <a:ext cx="11109960" cy="960120"/>
          </a:xfrm>
          <a:prstGeom prst="rect">
            <a:avLst/>
          </a:prstGeom>
          <a:solidFill>
            <a:srgbClr val="0F2C42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946904"/>
            <a:ext cx="1065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7FC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CONCLUSIÓN PRUDENTE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77240" y="5202936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concentración empresarial no tiene el mismo significado en todos los sectores. Comercio resiste excluir 2016, cambiar a concentración relativa, y corregir por comparaciones múltiples; en Alojamiento y comidas se invierte al usar concentración relativa; y en Agricultura, la relación cambia de signo en el tiempo. Detalle completo: docs/metodologia/metodologia.md.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F5C8B"/>
          </a:solidFill>
          <a:ln/>
        </p:spPr>
      </p:sp>
      <p:pic>
        <p:nvPicPr>
          <p:cNvPr id="3" name="Image 0" descr="C:\Users\srebo\Desktop\big data\capstone project big data\pyme-studio\docs\presentacion\build\icon_equ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 Y MÉTODO DE TRABAJO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Kanban, 4 roles, 6 hitos comprobables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30936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C4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del proyecto e integración del trabajo del equipo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Búsqueda, descarga y validación cruzada de las fuentes SII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Procesamiento y análisis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Pipeline, armonización de rubros, correlación estadística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Visualización y comunicación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Dashboard, documentación de arquitectura, esta presentación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722376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HITOS DEL MÓDULO 1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7223760" y="214884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9" name="Text 5"/>
          <p:cNvSpPr/>
          <p:nvPr/>
        </p:nvSpPr>
        <p:spPr>
          <a:xfrm>
            <a:off x="7223760" y="2148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635240" y="21579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 — Problema y fuentes validados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223760" y="258318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2" name="Text 8"/>
          <p:cNvSpPr/>
          <p:nvPr/>
        </p:nvSpPr>
        <p:spPr>
          <a:xfrm>
            <a:off x="722376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635240" y="25923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2 — Datos obtenidos y almacenados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223760" y="301752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5" name="Text 11"/>
          <p:cNvSpPr/>
          <p:nvPr/>
        </p:nvSpPr>
        <p:spPr>
          <a:xfrm>
            <a:off x="7223760" y="3017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7635240" y="30266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3 — Pipeline funcional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223760" y="345186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18" name="Text 14"/>
          <p:cNvSpPr/>
          <p:nvPr/>
        </p:nvSpPr>
        <p:spPr>
          <a:xfrm>
            <a:off x="7223760" y="34518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7635240" y="3461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4 — Primer análisis completo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7223760" y="388620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21" name="Text 17"/>
          <p:cNvSpPr/>
          <p:nvPr/>
        </p:nvSpPr>
        <p:spPr>
          <a:xfrm>
            <a:off x="722376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7635240" y="38953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5 — Dashboard funcional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7223760" y="4320540"/>
            <a:ext cx="292608" cy="292608"/>
          </a:xfrm>
          <a:prstGeom prst="ellipse">
            <a:avLst/>
          </a:prstGeom>
          <a:solidFill>
            <a:srgbClr val="2F8F5B"/>
          </a:solidFill>
          <a:ln/>
        </p:spPr>
      </p:sp>
      <p:sp>
        <p:nvSpPr>
          <p:cNvPr id="24" name="Text 20"/>
          <p:cNvSpPr/>
          <p:nvPr/>
        </p:nvSpPr>
        <p:spPr>
          <a:xfrm>
            <a:off x="7223760" y="43205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35240" y="43296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6 — Esta presentación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08676" y="1554480"/>
            <a:ext cx="1371600" cy="1371600"/>
          </a:xfrm>
          <a:prstGeom prst="ellipse">
            <a:avLst/>
          </a:prstGeom>
          <a:solidFill>
            <a:srgbClr val="153A54"/>
          </a:solidFill>
          <a:ln/>
        </p:spPr>
      </p:sp>
      <p:pic>
        <p:nvPicPr>
          <p:cNvPr id="3" name="Image 0" descr="C:\Users\srebo\Desktop\big data\capstone project big data\pyme-studio\docs\presentacion\build\icon_cier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7860" y="1883664"/>
            <a:ext cx="713232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2004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rgbClr val="8FB4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PYME Studio · SIC 2026 · Big Data Mixto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0" y="47548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BF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interactivo, código y documentación completa disponibles en la carpeta del proyecto.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Samsung Innovation Campus 2026 — Big Data Mixto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PYME Studio</dc:title>
  <dc:subject>Concentración de empresas y su relación con el cierre de negocios en Chile, por comuna y rubro (SII, 2005-2024)</dc:subject>
  <dc:creator>Ignacio Hidalgo, Sergio Ariel Rebolledo López, Avelyn García</dc:creator>
  <cp:lastModifiedBy>Ignacio Hidalgo, Sergio Ariel Rebolledo López, Avelyn García</cp:lastModifiedBy>
  <cp:revision>1</cp:revision>
  <dcterms:created xsi:type="dcterms:W3CDTF">2026-09-03T03:42:02Z</dcterms:created>
  <dcterms:modified xsi:type="dcterms:W3CDTF">2026-09-03T03:42:02Z</dcterms:modified>
</cp:coreProperties>
</file>